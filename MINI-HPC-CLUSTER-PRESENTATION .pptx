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8288000" cy="10287000"/>
  <p:notesSz cx="6858000" cy="9144000"/>
  <p:embeddedFontLst>
    <p:embeddedFont>
      <p:font typeface="Nunito" panose="020F0502020204030204" pitchFamily="2" charset="0"/>
      <p:regular r:id="rId14"/>
    </p:embeddedFont>
    <p:embeddedFont>
      <p:font typeface="Nunito Bold" panose="020B0604020202020204" charset="0"/>
      <p:regular r:id="rId15"/>
    </p:embeddedFont>
    <p:embeddedFont>
      <p:font typeface="PT Sans" panose="020F0502020204030204" pitchFamily="34" charset="0"/>
      <p:regular r:id="rId16"/>
    </p:embeddedFont>
    <p:embeddedFont>
      <p:font typeface="Times New Roman Bold" panose="02020803070505020304" pitchFamily="18" charset="0"/>
      <p:regular r:id="rId17"/>
      <p:bold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294330" cy="9457153"/>
            <a:chOff x="0" y="0"/>
            <a:chExt cx="8392439" cy="12609538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8392414" cy="12609576"/>
            </a:xfrm>
            <a:custGeom>
              <a:avLst/>
              <a:gdLst/>
              <a:ahLst/>
              <a:cxnLst/>
              <a:rect l="l" t="t" r="r" b="b"/>
              <a:pathLst>
                <a:path w="8392414" h="12609576">
                  <a:moveTo>
                    <a:pt x="0" y="0"/>
                  </a:moveTo>
                  <a:lnTo>
                    <a:pt x="8392414" y="0"/>
                  </a:lnTo>
                  <a:lnTo>
                    <a:pt x="8392414" y="12609576"/>
                  </a:lnTo>
                  <a:lnTo>
                    <a:pt x="0" y="126095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2" r="-83"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906483" y="1377639"/>
            <a:ext cx="7955013" cy="937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4"/>
              </a:lnSpc>
            </a:pPr>
            <a:r>
              <a:rPr lang="en-US" sz="55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MINI HPC CLUSTER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670292" y="2990955"/>
            <a:ext cx="9335691" cy="38256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70"/>
              </a:lnSpc>
            </a:pPr>
            <a:r>
              <a:rPr lang="en-US" sz="23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                             Amira Momtaz  231001071</a:t>
            </a:r>
          </a:p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Rowan Atef  231001403 </a:t>
            </a:r>
          </a:p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Inji Hatem 231000596   </a:t>
            </a:r>
          </a:p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Supervised by: Dr. Mohamed Mahmoud El Sayed </a:t>
            </a:r>
          </a:p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Code course: CBIO312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860621" y="1100195"/>
            <a:ext cx="6546799" cy="751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9"/>
              </a:lnSpc>
            </a:pPr>
            <a:r>
              <a:rPr lang="en-US" sz="5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overview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356702" y="3945284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Objectives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356702" y="4469454"/>
            <a:ext cx="3729485" cy="299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Implement a Mini‑HPC cluster (MPI) and a hybrid Big Data cluster (Docker Swarm + Apache Spark) to compare performance, scalability, and architecture.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3381930" y="3964334"/>
            <a:ext cx="3520230" cy="4494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 b="1">
                <a:solidFill>
                  <a:srgbClr val="FFFFFF"/>
                </a:solidFill>
                <a:latin typeface="Nunito Bold"/>
                <a:ea typeface="Nunito Bold"/>
                <a:cs typeface="Nunito Bold"/>
                <a:sym typeface="Nunito Bold"/>
              </a:rPr>
              <a:t>A</a:t>
            </a:r>
            <a:r>
              <a:rPr lang="en-US" sz="27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pproach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560066" y="4484303"/>
            <a:ext cx="3744325" cy="25028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 and test distributed ML models on the same gene expression dataset across both platforms and analyze trade-offs.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7150" y="1383316"/>
            <a:ext cx="7216826" cy="7517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Materials &amp; environment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0" y="4048716"/>
            <a:ext cx="1493044" cy="922734"/>
            <a:chOff x="0" y="0"/>
            <a:chExt cx="1990725" cy="1230312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990725" cy="1230249"/>
            </a:xfrm>
            <a:custGeom>
              <a:avLst/>
              <a:gdLst/>
              <a:ahLst/>
              <a:cxnLst/>
              <a:rect l="l" t="t" r="r" b="b"/>
              <a:pathLst>
                <a:path w="1990725" h="1230249">
                  <a:moveTo>
                    <a:pt x="0" y="0"/>
                  </a:moveTo>
                  <a:lnTo>
                    <a:pt x="1990725" y="0"/>
                  </a:lnTo>
                  <a:lnTo>
                    <a:pt x="1990725" y="1230249"/>
                  </a:lnTo>
                  <a:lnTo>
                    <a:pt x="0" y="1230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5" r="-15" b="-5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914202" y="4010616"/>
            <a:ext cx="3281515" cy="47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Hardware / T</a:t>
            </a:r>
            <a:r>
              <a:rPr lang="en-US" sz="3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ools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914202" y="4544320"/>
            <a:ext cx="3281515" cy="29965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 VirtualBox VMs (1 master + 2 workers) running Ubuntu Server 20.04; static IPs and passwordless SSH configured.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6569716" y="4048716"/>
            <a:ext cx="1493044" cy="922734"/>
            <a:chOff x="0" y="0"/>
            <a:chExt cx="1990725" cy="1230312"/>
          </a:xfrm>
        </p:grpSpPr>
        <p:sp>
          <p:nvSpPr>
            <p:cNvPr id="12" name="Freeform 12" descr="preencoded.png"/>
            <p:cNvSpPr/>
            <p:nvPr/>
          </p:nvSpPr>
          <p:spPr>
            <a:xfrm>
              <a:off x="0" y="0"/>
              <a:ext cx="1990725" cy="1230249"/>
            </a:xfrm>
            <a:custGeom>
              <a:avLst/>
              <a:gdLst/>
              <a:ahLst/>
              <a:cxnLst/>
              <a:rect l="l" t="t" r="r" b="b"/>
              <a:pathLst>
                <a:path w="1990725" h="1230249">
                  <a:moveTo>
                    <a:pt x="0" y="0"/>
                  </a:moveTo>
                  <a:lnTo>
                    <a:pt x="1990725" y="0"/>
                  </a:lnTo>
                  <a:lnTo>
                    <a:pt x="1990725" y="1230249"/>
                  </a:lnTo>
                  <a:lnTo>
                    <a:pt x="0" y="1230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5" r="-15" b="-5"/>
              </a:stretch>
            </a:blipFill>
          </p:spPr>
        </p:sp>
      </p:grpSp>
      <p:sp>
        <p:nvSpPr>
          <p:cNvPr id="13" name="TextBox 13"/>
          <p:cNvSpPr txBox="1"/>
          <p:nvPr/>
        </p:nvSpPr>
        <p:spPr>
          <a:xfrm>
            <a:off x="8436769" y="4010616"/>
            <a:ext cx="3281515" cy="4780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92"/>
              </a:lnSpc>
            </a:pPr>
            <a:r>
              <a:rPr lang="en-US" sz="36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Cluster software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436769" y="4544320"/>
            <a:ext cx="3281515" cy="20389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Docker, Docker Swarm, OpenMPI, mpi4py, Apache Spark (deployed with spark-stack.yml).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092283" y="4048716"/>
            <a:ext cx="1493044" cy="922734"/>
            <a:chOff x="0" y="0"/>
            <a:chExt cx="1990725" cy="1230312"/>
          </a:xfrm>
        </p:grpSpPr>
        <p:sp>
          <p:nvSpPr>
            <p:cNvPr id="16" name="Freeform 16" descr="preencoded.png"/>
            <p:cNvSpPr/>
            <p:nvPr/>
          </p:nvSpPr>
          <p:spPr>
            <a:xfrm>
              <a:off x="0" y="0"/>
              <a:ext cx="1990725" cy="1230249"/>
            </a:xfrm>
            <a:custGeom>
              <a:avLst/>
              <a:gdLst/>
              <a:ahLst/>
              <a:cxnLst/>
              <a:rect l="l" t="t" r="r" b="b"/>
              <a:pathLst>
                <a:path w="1990725" h="1230249">
                  <a:moveTo>
                    <a:pt x="0" y="0"/>
                  </a:moveTo>
                  <a:lnTo>
                    <a:pt x="1990725" y="0"/>
                  </a:lnTo>
                  <a:lnTo>
                    <a:pt x="1990725" y="1230249"/>
                  </a:lnTo>
                  <a:lnTo>
                    <a:pt x="0" y="123024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5" r="-15" b="-5"/>
              </a:stretch>
            </a:blipFill>
          </p:spPr>
        </p:sp>
      </p:grpSp>
      <p:sp>
        <p:nvSpPr>
          <p:cNvPr id="17" name="TextBox 17"/>
          <p:cNvSpPr txBox="1"/>
          <p:nvPr/>
        </p:nvSpPr>
        <p:spPr>
          <a:xfrm>
            <a:off x="13959335" y="4010616"/>
            <a:ext cx="3062307" cy="949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20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ML libraries &amp; dataset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3959335" y="4984252"/>
            <a:ext cx="3281515" cy="25177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Python 3, scikit-learn, pandas, numpy, Spark MLlib; gene expression dataset for classification experiments.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7150" y="1384249"/>
            <a:ext cx="6614217" cy="76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88"/>
              </a:lnSpc>
            </a:pPr>
            <a:r>
              <a:rPr lang="en-US" sz="55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— setup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75650" y="3768928"/>
            <a:ext cx="7457180" cy="4225681"/>
            <a:chOff x="0" y="0"/>
            <a:chExt cx="9942906" cy="5634241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9942957" cy="5634228"/>
            </a:xfrm>
            <a:custGeom>
              <a:avLst/>
              <a:gdLst/>
              <a:ahLst/>
              <a:cxnLst/>
              <a:rect l="l" t="t" r="r" b="b"/>
              <a:pathLst>
                <a:path w="9942957" h="5634228">
                  <a:moveTo>
                    <a:pt x="0" y="0"/>
                  </a:moveTo>
                  <a:lnTo>
                    <a:pt x="9942957" y="0"/>
                  </a:lnTo>
                  <a:lnTo>
                    <a:pt x="9942957" y="5634228"/>
                  </a:lnTo>
                  <a:lnTo>
                    <a:pt x="0" y="56342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37" b="-37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8672217" y="3015405"/>
            <a:ext cx="8578005" cy="33038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45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provisioned three VMs and assigned static IPs. Passwordless SSH (ssh-keygen + ssh-copy-id) enabled seamless remote execution and MPI orchestration.       </a:t>
            </a:r>
          </a:p>
          <a:p>
            <a:pPr algn="l">
              <a:lnSpc>
                <a:spcPts val="5745"/>
              </a:lnSpc>
            </a:pPr>
            <a:r>
              <a:rPr lang="en-US" sz="3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OpenMPI and mpi4py were installed for the Mini‑HPC experiments; Docker and Swarm initialized the containerized cluster for Spark.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7905150" y="884634"/>
            <a:ext cx="9335691" cy="14558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Methodology — workloads &amp; experiments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05150" y="3366821"/>
            <a:ext cx="10250091" cy="6026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Distributed ML tasks were implemented in both environments:  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905150" y="4323017"/>
            <a:ext cx="9335691" cy="21435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75640" lvl="1" indent="-337820" algn="l">
              <a:lnSpc>
                <a:spcPts val="4468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MPI</a:t>
            </a: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mpi4py programs that partition data and perform parallel training steps across worker nodes.</a:t>
            </a:r>
          </a:p>
          <a:p>
            <a:pPr marL="675640" lvl="1" indent="-337820" algn="l">
              <a:lnSpc>
                <a:spcPts val="4468"/>
              </a:lnSpc>
              <a:buFont typeface="Arial"/>
              <a:buChar char="•"/>
            </a:pPr>
            <a:r>
              <a:rPr lang="en-US" sz="2799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Spark</a:t>
            </a: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: PySpark jobs using RDD/DataFrame pipelines and Spark MLlib for model training with fault-tolerant execution.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905150" y="7478458"/>
            <a:ext cx="9335691" cy="1033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5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Experiments measured training time, resource utilization, recovery behavior, and classification accuracy on the gene expression dataset.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47150" y="1204627"/>
            <a:ext cx="6546799" cy="76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Network Setup for the 3 Virtual Machines: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47150" y="2954645"/>
            <a:ext cx="7556897" cy="4390873"/>
            <a:chOff x="0" y="0"/>
            <a:chExt cx="10075862" cy="5854497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0075799" cy="5854446"/>
            </a:xfrm>
            <a:custGeom>
              <a:avLst/>
              <a:gdLst/>
              <a:ahLst/>
              <a:cxnLst/>
              <a:rect l="l" t="t" r="r" b="b"/>
              <a:pathLst>
                <a:path w="10075799" h="5854446">
                  <a:moveTo>
                    <a:pt x="0" y="0"/>
                  </a:moveTo>
                  <a:lnTo>
                    <a:pt x="10075799" y="0"/>
                  </a:lnTo>
                  <a:lnTo>
                    <a:pt x="10075799" y="5854446"/>
                  </a:lnTo>
                  <a:lnTo>
                    <a:pt x="0" y="585444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t="-25" b="-26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427378" y="2876360"/>
            <a:ext cx="7901140" cy="4527204"/>
            <a:chOff x="0" y="0"/>
            <a:chExt cx="10534853" cy="6036272"/>
          </a:xfrm>
        </p:grpSpPr>
        <p:sp>
          <p:nvSpPr>
            <p:cNvPr id="10" name="Freeform 10" descr="preencoded.png"/>
            <p:cNvSpPr/>
            <p:nvPr/>
          </p:nvSpPr>
          <p:spPr>
            <a:xfrm>
              <a:off x="0" y="0"/>
              <a:ext cx="10534904" cy="6036310"/>
            </a:xfrm>
            <a:custGeom>
              <a:avLst/>
              <a:gdLst/>
              <a:ahLst/>
              <a:cxnLst/>
              <a:rect l="l" t="t" r="r" b="b"/>
              <a:pathLst>
                <a:path w="10534904" h="6036310">
                  <a:moveTo>
                    <a:pt x="0" y="0"/>
                  </a:moveTo>
                  <a:lnTo>
                    <a:pt x="10534904" y="0"/>
                  </a:lnTo>
                  <a:lnTo>
                    <a:pt x="10534904" y="6036310"/>
                  </a:lnTo>
                  <a:lnTo>
                    <a:pt x="0" y="60363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60" r="-59"/>
              </a:stretch>
            </a:blipFill>
          </p:spPr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663750" y="1026176"/>
            <a:ext cx="13611711" cy="12393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640"/>
              </a:lnSpc>
            </a:pPr>
            <a:r>
              <a:rPr lang="en-US" sz="7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 SSH connection successful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569566" y="2362924"/>
            <a:ext cx="8809492" cy="5560362"/>
            <a:chOff x="0" y="0"/>
            <a:chExt cx="11745989" cy="7413816"/>
          </a:xfrm>
        </p:grpSpPr>
        <p:sp>
          <p:nvSpPr>
            <p:cNvPr id="8" name="Freeform 8" descr="A computer screen with white text  AI-generated content may be incorrect."/>
            <p:cNvSpPr/>
            <p:nvPr/>
          </p:nvSpPr>
          <p:spPr>
            <a:xfrm>
              <a:off x="0" y="0"/>
              <a:ext cx="11745976" cy="7413752"/>
            </a:xfrm>
            <a:custGeom>
              <a:avLst/>
              <a:gdLst/>
              <a:ahLst/>
              <a:cxnLst/>
              <a:rect l="l" t="t" r="r" b="b"/>
              <a:pathLst>
                <a:path w="11745976" h="7413752">
                  <a:moveTo>
                    <a:pt x="0" y="0"/>
                  </a:moveTo>
                  <a:lnTo>
                    <a:pt x="11745976" y="0"/>
                  </a:lnTo>
                  <a:lnTo>
                    <a:pt x="11745976" y="7413752"/>
                  </a:lnTo>
                  <a:lnTo>
                    <a:pt x="0" y="74137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509" r="-8509"/>
              </a:stretch>
            </a:blipFill>
          </p:spPr>
        </p:sp>
      </p:grpSp>
      <p:grpSp>
        <p:nvGrpSpPr>
          <p:cNvPr id="9" name="Group 9"/>
          <p:cNvGrpSpPr/>
          <p:nvPr/>
        </p:nvGrpSpPr>
        <p:grpSpPr>
          <a:xfrm>
            <a:off x="9680124" y="4113247"/>
            <a:ext cx="8261242" cy="5574868"/>
            <a:chOff x="0" y="0"/>
            <a:chExt cx="11014989" cy="7433158"/>
          </a:xfrm>
        </p:grpSpPr>
        <p:sp>
          <p:nvSpPr>
            <p:cNvPr id="10" name="Freeform 10" descr="A screenshot of a computer program  AI-generated content may be incorrect."/>
            <p:cNvSpPr/>
            <p:nvPr/>
          </p:nvSpPr>
          <p:spPr>
            <a:xfrm>
              <a:off x="0" y="0"/>
              <a:ext cx="11014964" cy="7433183"/>
            </a:xfrm>
            <a:custGeom>
              <a:avLst/>
              <a:gdLst/>
              <a:ahLst/>
              <a:cxnLst/>
              <a:rect l="l" t="t" r="r" b="b"/>
              <a:pathLst>
                <a:path w="11014964" h="7433183">
                  <a:moveTo>
                    <a:pt x="0" y="0"/>
                  </a:moveTo>
                  <a:lnTo>
                    <a:pt x="11014964" y="0"/>
                  </a:lnTo>
                  <a:lnTo>
                    <a:pt x="11014964" y="7433183"/>
                  </a:lnTo>
                  <a:lnTo>
                    <a:pt x="0" y="743318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1679" r="-11679"/>
              </a:stretch>
            </a:blipFill>
          </p:spPr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916334" y="674637"/>
            <a:ext cx="5842692" cy="663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990"/>
              </a:lnSpc>
            </a:pPr>
            <a:r>
              <a:rPr lang="en-US" sz="48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RESULTS: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2885789" y="1527648"/>
            <a:ext cx="12878400" cy="7232752"/>
            <a:chOff x="0" y="0"/>
            <a:chExt cx="17171200" cy="964366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17171163" cy="9643618"/>
            </a:xfrm>
            <a:custGeom>
              <a:avLst/>
              <a:gdLst/>
              <a:ahLst/>
              <a:cxnLst/>
              <a:rect l="l" t="t" r="r" b="b"/>
              <a:pathLst>
                <a:path w="17171163" h="9643618">
                  <a:moveTo>
                    <a:pt x="0" y="0"/>
                  </a:moveTo>
                  <a:lnTo>
                    <a:pt x="17171163" y="0"/>
                  </a:lnTo>
                  <a:lnTo>
                    <a:pt x="17171163" y="9643618"/>
                  </a:lnTo>
                  <a:lnTo>
                    <a:pt x="0" y="96436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0" r="-20"/>
              </a:stretch>
            </a:blipFill>
          </p:spPr>
        </p:sp>
      </p:grpSp>
      <p:sp>
        <p:nvSpPr>
          <p:cNvPr id="9" name="TextBox 9"/>
          <p:cNvSpPr txBox="1"/>
          <p:nvPr/>
        </p:nvSpPr>
        <p:spPr>
          <a:xfrm>
            <a:off x="2607345" y="8926944"/>
            <a:ext cx="13878096" cy="387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sz="2000">
                <a:solidFill>
                  <a:srgbClr val="FFFFFF"/>
                </a:solidFill>
                <a:latin typeface="PT Sans"/>
                <a:ea typeface="PT Sans"/>
                <a:cs typeface="PT Sans"/>
                <a:sym typeface="PT Sans"/>
              </a:rPr>
              <a:t>                                                                       Spark integration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30786" y="757238"/>
            <a:ext cx="11610080" cy="9234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739"/>
              </a:lnSpc>
            </a:pPr>
            <a:r>
              <a:rPr lang="en-US" sz="54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RESULT: Performance comparison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030786" y="2260549"/>
            <a:ext cx="16226428" cy="6418507"/>
            <a:chOff x="0" y="0"/>
            <a:chExt cx="21635237" cy="8558009"/>
          </a:xfrm>
        </p:grpSpPr>
        <p:sp>
          <p:nvSpPr>
            <p:cNvPr id="8" name="Freeform 8" descr="preencoded.png"/>
            <p:cNvSpPr/>
            <p:nvPr/>
          </p:nvSpPr>
          <p:spPr>
            <a:xfrm>
              <a:off x="0" y="0"/>
              <a:ext cx="21635213" cy="8558022"/>
            </a:xfrm>
            <a:custGeom>
              <a:avLst/>
              <a:gdLst/>
              <a:ahLst/>
              <a:cxnLst/>
              <a:rect l="l" t="t" r="r" b="b"/>
              <a:pathLst>
                <a:path w="21635213" h="8558022">
                  <a:moveTo>
                    <a:pt x="0" y="0"/>
                  </a:moveTo>
                  <a:lnTo>
                    <a:pt x="21635213" y="0"/>
                  </a:lnTo>
                  <a:lnTo>
                    <a:pt x="21635213" y="8558022"/>
                  </a:lnTo>
                  <a:lnTo>
                    <a:pt x="0" y="855802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" r="-2"/>
              </a:stretch>
            </a:blipFill>
          </p:spPr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1047150" y="1128560"/>
            <a:ext cx="6546799" cy="76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Discussion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1032862" y="2324252"/>
            <a:ext cx="9364266" cy="6791325"/>
            <a:chOff x="0" y="0"/>
            <a:chExt cx="12485688" cy="905510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2485624" cy="9055100"/>
            </a:xfrm>
            <a:custGeom>
              <a:avLst/>
              <a:gdLst/>
              <a:ahLst/>
              <a:cxnLst/>
              <a:rect l="l" t="t" r="r" b="b"/>
              <a:pathLst>
                <a:path w="12485624" h="9055100">
                  <a:moveTo>
                    <a:pt x="0" y="600964"/>
                  </a:moveTo>
                  <a:cubicBezTo>
                    <a:pt x="0" y="269113"/>
                    <a:pt x="269113" y="0"/>
                    <a:pt x="600964" y="0"/>
                  </a:cubicBezTo>
                  <a:lnTo>
                    <a:pt x="11884660" y="0"/>
                  </a:lnTo>
                  <a:cubicBezTo>
                    <a:pt x="12216638" y="0"/>
                    <a:pt x="12485624" y="269113"/>
                    <a:pt x="12485624" y="600964"/>
                  </a:cubicBezTo>
                  <a:lnTo>
                    <a:pt x="12485624" y="8454136"/>
                  </a:lnTo>
                  <a:cubicBezTo>
                    <a:pt x="12485624" y="8786114"/>
                    <a:pt x="12216511" y="9055100"/>
                    <a:pt x="11884660" y="9055100"/>
                  </a:cubicBezTo>
                  <a:lnTo>
                    <a:pt x="600964" y="9055100"/>
                  </a:lnTo>
                  <a:cubicBezTo>
                    <a:pt x="269113" y="9055100"/>
                    <a:pt x="0" y="8785987"/>
                    <a:pt x="0" y="8454136"/>
                  </a:cubicBezTo>
                  <a:close/>
                </a:path>
              </a:pathLst>
            </a:custGeom>
            <a:solidFill>
              <a:srgbClr val="00002E"/>
            </a:solidFill>
            <a:ln w="28576" cap="sq">
              <a:solidFill>
                <a:srgbClr val="F2B42D"/>
              </a:solidFill>
              <a:prstDash val="solid"/>
              <a:miter/>
            </a:ln>
          </p:spPr>
        </p:sp>
      </p:grpSp>
      <p:grpSp>
        <p:nvGrpSpPr>
          <p:cNvPr id="11" name="Group 11"/>
          <p:cNvGrpSpPr/>
          <p:nvPr/>
        </p:nvGrpSpPr>
        <p:grpSpPr>
          <a:xfrm>
            <a:off x="1075734" y="2367115"/>
            <a:ext cx="4639266" cy="4051544"/>
            <a:chOff x="0" y="0"/>
            <a:chExt cx="6185687" cy="5402059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185662" cy="5402072"/>
            </a:xfrm>
            <a:custGeom>
              <a:avLst/>
              <a:gdLst/>
              <a:ahLst/>
              <a:cxnLst/>
              <a:rect l="l" t="t" r="r" b="b"/>
              <a:pathLst>
                <a:path w="6185662" h="5402072">
                  <a:moveTo>
                    <a:pt x="0" y="598424"/>
                  </a:moveTo>
                  <a:cubicBezTo>
                    <a:pt x="0" y="267970"/>
                    <a:pt x="267970" y="0"/>
                    <a:pt x="598424" y="0"/>
                  </a:cubicBezTo>
                  <a:lnTo>
                    <a:pt x="5587238" y="0"/>
                  </a:lnTo>
                  <a:cubicBezTo>
                    <a:pt x="5917692" y="0"/>
                    <a:pt x="6185662" y="267970"/>
                    <a:pt x="6185662" y="598424"/>
                  </a:cubicBezTo>
                  <a:lnTo>
                    <a:pt x="6185662" y="4803648"/>
                  </a:lnTo>
                  <a:cubicBezTo>
                    <a:pt x="6185662" y="5134102"/>
                    <a:pt x="5917692" y="5402072"/>
                    <a:pt x="5587238" y="5402072"/>
                  </a:cubicBezTo>
                  <a:lnTo>
                    <a:pt x="598424" y="5402072"/>
                  </a:lnTo>
                  <a:cubicBezTo>
                    <a:pt x="267970" y="5402072"/>
                    <a:pt x="0" y="5134102"/>
                    <a:pt x="0" y="4803648"/>
                  </a:cubicBezTo>
                  <a:close/>
                </a:path>
              </a:pathLst>
            </a:custGeom>
            <a:solidFill>
              <a:srgbClr val="00002E"/>
            </a:solidFill>
          </p:spPr>
        </p:sp>
      </p:grpSp>
      <p:sp>
        <p:nvSpPr>
          <p:cNvPr id="13" name="TextBox 13"/>
          <p:cNvSpPr txBox="1"/>
          <p:nvPr/>
        </p:nvSpPr>
        <p:spPr>
          <a:xfrm>
            <a:off x="1374877" y="2637682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Performance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4877" y="3171377"/>
            <a:ext cx="4040981" cy="250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MPI delivered faster training throughput for tightly-coupled tasks due to lightweight communication and minimal orchestration overhead.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5715000" y="2367115"/>
            <a:ext cx="4639266" cy="4051544"/>
            <a:chOff x="0" y="0"/>
            <a:chExt cx="6185687" cy="5402059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185662" cy="5402072"/>
            </a:xfrm>
            <a:custGeom>
              <a:avLst/>
              <a:gdLst/>
              <a:ahLst/>
              <a:cxnLst/>
              <a:rect l="l" t="t" r="r" b="b"/>
              <a:pathLst>
                <a:path w="6185662" h="5402072">
                  <a:moveTo>
                    <a:pt x="0" y="0"/>
                  </a:moveTo>
                  <a:lnTo>
                    <a:pt x="6185662" y="0"/>
                  </a:lnTo>
                  <a:lnTo>
                    <a:pt x="6185662" y="5402072"/>
                  </a:lnTo>
                  <a:lnTo>
                    <a:pt x="0" y="5402072"/>
                  </a:lnTo>
                  <a:close/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id="17" name="Group 17"/>
          <p:cNvGrpSpPr/>
          <p:nvPr/>
        </p:nvGrpSpPr>
        <p:grpSpPr>
          <a:xfrm>
            <a:off x="5715000" y="2367115"/>
            <a:ext cx="38100" cy="4051544"/>
            <a:chOff x="0" y="0"/>
            <a:chExt cx="50800" cy="5402059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0800" cy="5402072"/>
            </a:xfrm>
            <a:custGeom>
              <a:avLst/>
              <a:gdLst/>
              <a:ahLst/>
              <a:cxnLst/>
              <a:rect l="l" t="t" r="r" b="b"/>
              <a:pathLst>
                <a:path w="50800" h="540207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cubicBezTo>
                    <a:pt x="39370" y="0"/>
                    <a:pt x="50800" y="11430"/>
                    <a:pt x="50800" y="25400"/>
                  </a:cubicBezTo>
                  <a:lnTo>
                    <a:pt x="50800" y="5376672"/>
                  </a:lnTo>
                  <a:cubicBezTo>
                    <a:pt x="50800" y="5390642"/>
                    <a:pt x="39370" y="5402072"/>
                    <a:pt x="25400" y="5402072"/>
                  </a:cubicBezTo>
                  <a:cubicBezTo>
                    <a:pt x="11430" y="5402072"/>
                    <a:pt x="0" y="5390642"/>
                    <a:pt x="0" y="5376672"/>
                  </a:cubicBezTo>
                  <a:close/>
                </a:path>
              </a:pathLst>
            </a:custGeom>
            <a:solidFill>
              <a:srgbClr val="F05B77"/>
            </a:solidFill>
          </p:spPr>
        </p:sp>
      </p:grpSp>
      <p:sp>
        <p:nvSpPr>
          <p:cNvPr id="19" name="TextBox 19"/>
          <p:cNvSpPr txBox="1"/>
          <p:nvPr/>
        </p:nvSpPr>
        <p:spPr>
          <a:xfrm>
            <a:off x="6014142" y="2656732"/>
            <a:ext cx="4040981" cy="8893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Nunito"/>
                <a:ea typeface="Nunito"/>
                <a:cs typeface="Nunito"/>
                <a:sym typeface="Nunito"/>
              </a:rPr>
              <a:t>Fault tolerance &amp; management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6014142" y="3611318"/>
            <a:ext cx="4040981" cy="2508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Spark provided automatic recovery, task re-execution, and robust job management at the cost of higher orchestration overhead.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1075734" y="6418659"/>
            <a:ext cx="9278541" cy="2654056"/>
            <a:chOff x="0" y="0"/>
            <a:chExt cx="12371388" cy="3538741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12371324" cy="3538728"/>
            </a:xfrm>
            <a:custGeom>
              <a:avLst/>
              <a:gdLst/>
              <a:ahLst/>
              <a:cxnLst/>
              <a:rect l="l" t="t" r="r" b="b"/>
              <a:pathLst>
                <a:path w="12371324" h="3538728">
                  <a:moveTo>
                    <a:pt x="0" y="0"/>
                  </a:moveTo>
                  <a:lnTo>
                    <a:pt x="12371324" y="0"/>
                  </a:lnTo>
                  <a:lnTo>
                    <a:pt x="12371324" y="3538728"/>
                  </a:lnTo>
                  <a:lnTo>
                    <a:pt x="0" y="3538728"/>
                  </a:lnTo>
                  <a:close/>
                </a:path>
              </a:pathLst>
            </a:custGeom>
            <a:solidFill>
              <a:srgbClr val="00002E"/>
            </a:solidFill>
          </p:spPr>
        </p:sp>
      </p:grpSp>
      <p:grpSp>
        <p:nvGrpSpPr>
          <p:cNvPr id="23" name="Group 23"/>
          <p:cNvGrpSpPr/>
          <p:nvPr/>
        </p:nvGrpSpPr>
        <p:grpSpPr>
          <a:xfrm>
            <a:off x="1075734" y="6418659"/>
            <a:ext cx="9278541" cy="38100"/>
            <a:chOff x="0" y="0"/>
            <a:chExt cx="12371388" cy="5080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12371324" cy="50800"/>
            </a:xfrm>
            <a:custGeom>
              <a:avLst/>
              <a:gdLst/>
              <a:ahLst/>
              <a:cxnLst/>
              <a:rect l="l" t="t" r="r" b="b"/>
              <a:pathLst>
                <a:path w="12371324" h="50800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12345924" y="0"/>
                  </a:lnTo>
                  <a:cubicBezTo>
                    <a:pt x="12359894" y="0"/>
                    <a:pt x="12371324" y="11430"/>
                    <a:pt x="12371324" y="25400"/>
                  </a:cubicBezTo>
                  <a:cubicBezTo>
                    <a:pt x="12371324" y="39370"/>
                    <a:pt x="12359894" y="50800"/>
                    <a:pt x="12345924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35E44"/>
            </a:solidFill>
          </p:spPr>
        </p:sp>
      </p:grpSp>
      <p:sp>
        <p:nvSpPr>
          <p:cNvPr id="25" name="TextBox 25"/>
          <p:cNvSpPr txBox="1"/>
          <p:nvPr/>
        </p:nvSpPr>
        <p:spPr>
          <a:xfrm>
            <a:off x="1374877" y="6689227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69"/>
              </a:lnSpc>
            </a:pPr>
            <a:r>
              <a:rPr lang="en-US" sz="27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Hands-on learning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74877" y="7222922"/>
            <a:ext cx="8680256" cy="15506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49"/>
              </a:lnSpc>
            </a:pPr>
            <a:r>
              <a:rPr lang="en-US" sz="26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Configuring SSH, networking, and container orchestration gave practical experience in cluster administration and distributed debugging.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sp>
        <p:nvSpPr>
          <p:cNvPr id="6" name="TextBox 6"/>
          <p:cNvSpPr txBox="1"/>
          <p:nvPr/>
        </p:nvSpPr>
        <p:spPr>
          <a:xfrm>
            <a:off x="1031500" y="1291609"/>
            <a:ext cx="7081685" cy="7612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39"/>
              </a:lnSpc>
            </a:pPr>
            <a:r>
              <a:rPr lang="en-US" sz="49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 &amp; next steps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47150" y="2675249"/>
            <a:ext cx="16193691" cy="10813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built and evaluated two distributed architectures: a Mini‑HPC cluster using MPI/mpi4py and a hybrid Docker Swarm + Spark cluster. Both ran distributed ML on a bioinformatics gene expression dataset and produced accurate classification results.   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714956" y="5358003"/>
            <a:ext cx="7985369" cy="2768356"/>
            <a:chOff x="0" y="0"/>
            <a:chExt cx="10647159" cy="369114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647172" cy="3691128"/>
            </a:xfrm>
            <a:custGeom>
              <a:avLst/>
              <a:gdLst/>
              <a:ahLst/>
              <a:cxnLst/>
              <a:rect l="l" t="t" r="r" b="b"/>
              <a:pathLst>
                <a:path w="10647172" h="3691128">
                  <a:moveTo>
                    <a:pt x="0" y="606806"/>
                  </a:moveTo>
                  <a:cubicBezTo>
                    <a:pt x="0" y="271653"/>
                    <a:pt x="271653" y="0"/>
                    <a:pt x="606806" y="0"/>
                  </a:cubicBezTo>
                  <a:lnTo>
                    <a:pt x="10040366" y="0"/>
                  </a:lnTo>
                  <a:cubicBezTo>
                    <a:pt x="10375519" y="0"/>
                    <a:pt x="10647172" y="271653"/>
                    <a:pt x="10647172" y="606806"/>
                  </a:cubicBezTo>
                  <a:lnTo>
                    <a:pt x="10647172" y="3084322"/>
                  </a:lnTo>
                  <a:cubicBezTo>
                    <a:pt x="10647172" y="3419475"/>
                    <a:pt x="10375519" y="3691128"/>
                    <a:pt x="10040366" y="3691128"/>
                  </a:cubicBezTo>
                  <a:lnTo>
                    <a:pt x="606806" y="3691128"/>
                  </a:lnTo>
                  <a:cubicBezTo>
                    <a:pt x="271653" y="3691128"/>
                    <a:pt x="0" y="3419475"/>
                    <a:pt x="0" y="3084322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38100" cap="sq">
              <a:solidFill>
                <a:srgbClr val="F2B42D"/>
              </a:solidFill>
              <a:prstDash val="solid"/>
              <a:miter/>
            </a:ln>
          </p:spPr>
        </p:sp>
      </p:grpSp>
      <p:sp>
        <p:nvSpPr>
          <p:cNvPr id="10" name="TextBox 10"/>
          <p:cNvSpPr txBox="1"/>
          <p:nvPr/>
        </p:nvSpPr>
        <p:spPr>
          <a:xfrm>
            <a:off x="1024280" y="5529148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Conclusion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30335" y="6131604"/>
            <a:ext cx="7272785" cy="15601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68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Choice between MPI and Spark depends on task coupling, need for fault tolerance, and operational complexity.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9290180" y="5358003"/>
            <a:ext cx="7985369" cy="2768356"/>
            <a:chOff x="0" y="0"/>
            <a:chExt cx="10647159" cy="3691141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647172" cy="3691128"/>
            </a:xfrm>
            <a:custGeom>
              <a:avLst/>
              <a:gdLst/>
              <a:ahLst/>
              <a:cxnLst/>
              <a:rect l="l" t="t" r="r" b="b"/>
              <a:pathLst>
                <a:path w="10647172" h="3691128">
                  <a:moveTo>
                    <a:pt x="0" y="606806"/>
                  </a:moveTo>
                  <a:cubicBezTo>
                    <a:pt x="0" y="271653"/>
                    <a:pt x="271653" y="0"/>
                    <a:pt x="606806" y="0"/>
                  </a:cubicBezTo>
                  <a:lnTo>
                    <a:pt x="10040366" y="0"/>
                  </a:lnTo>
                  <a:cubicBezTo>
                    <a:pt x="10375519" y="0"/>
                    <a:pt x="10647172" y="271653"/>
                    <a:pt x="10647172" y="606806"/>
                  </a:cubicBezTo>
                  <a:lnTo>
                    <a:pt x="10647172" y="3084322"/>
                  </a:lnTo>
                  <a:cubicBezTo>
                    <a:pt x="10647172" y="3419475"/>
                    <a:pt x="10375519" y="3691128"/>
                    <a:pt x="10040366" y="3691128"/>
                  </a:cubicBezTo>
                  <a:lnTo>
                    <a:pt x="606806" y="3691128"/>
                  </a:lnTo>
                  <a:cubicBezTo>
                    <a:pt x="271653" y="3691128"/>
                    <a:pt x="0" y="3419475"/>
                    <a:pt x="0" y="3084322"/>
                  </a:cubicBez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  <a:ln w="38100" cap="sq">
              <a:solidFill>
                <a:srgbClr val="D7425E"/>
              </a:solidFill>
              <a:prstDash val="solid"/>
              <a:miter/>
            </a:ln>
          </p:spPr>
        </p:sp>
      </p:grpSp>
      <p:sp>
        <p:nvSpPr>
          <p:cNvPr id="14" name="TextBox 14"/>
          <p:cNvSpPr txBox="1"/>
          <p:nvPr/>
        </p:nvSpPr>
        <p:spPr>
          <a:xfrm>
            <a:off x="9630813" y="5529148"/>
            <a:ext cx="3520230" cy="4685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4"/>
              </a:lnSpc>
            </a:pPr>
            <a:r>
              <a:rPr lang="en-US" sz="2799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Next steps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30813" y="6179229"/>
            <a:ext cx="7272785" cy="1512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20"/>
              </a:lnSpc>
            </a:pPr>
            <a:r>
              <a:rPr lang="en-US" sz="259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Populate result slides with measured metrics, produce comparative charts, and extend experiments to larger datasets and simulated network partitions.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0002E">
                <a:alpha val="56078"/>
              </a:srgbClr>
            </a:solidFill>
          </p:spPr>
        </p:sp>
      </p:grpSp>
      <p:grpSp>
        <p:nvGrpSpPr>
          <p:cNvPr id="6" name="Group 6"/>
          <p:cNvGrpSpPr/>
          <p:nvPr/>
        </p:nvGrpSpPr>
        <p:grpSpPr>
          <a:xfrm>
            <a:off x="11430000" y="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8" name="TextBox 8"/>
          <p:cNvSpPr txBox="1"/>
          <p:nvPr/>
        </p:nvSpPr>
        <p:spPr>
          <a:xfrm>
            <a:off x="2675534" y="3797208"/>
            <a:ext cx="7955013" cy="946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984"/>
              </a:lnSpc>
            </a:pPr>
            <a:r>
              <a:rPr lang="en-US" sz="80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THANK YOU 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</Words>
  <Application>Microsoft Office PowerPoint</Application>
  <PresentationFormat>Custom</PresentationFormat>
  <Paragraphs>45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Times New Roman Bold</vt:lpstr>
      <vt:lpstr>Arial</vt:lpstr>
      <vt:lpstr>PT Sans</vt:lpstr>
      <vt:lpstr>Nunito</vt:lpstr>
      <vt:lpstr>Calibri</vt:lpstr>
      <vt:lpstr>Nunito Bold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ZeroOne</dc:creator>
  <cp:lastModifiedBy>Amira Momtaz Mohamed</cp:lastModifiedBy>
  <cp:revision>1</cp:revision>
  <dcterms:created xsi:type="dcterms:W3CDTF">2006-08-16T00:00:00Z</dcterms:created>
  <dcterms:modified xsi:type="dcterms:W3CDTF">2026-06-05T00:48:58Z</dcterms:modified>
  <dc:identifier>DAHLqP1Iwwo</dc:identifier>
</cp:coreProperties>
</file>